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66" r:id="rId3"/>
    <p:sldId id="258" r:id="rId4"/>
    <p:sldId id="263" r:id="rId5"/>
    <p:sldId id="260" r:id="rId6"/>
    <p:sldId id="259" r:id="rId7"/>
    <p:sldId id="262" r:id="rId8"/>
    <p:sldId id="265" r:id="rId9"/>
    <p:sldId id="261" r:id="rId10"/>
    <p:sldId id="268" r:id="rId11"/>
    <p:sldId id="267" r:id="rId12"/>
    <p:sldId id="257" r:id="rId13"/>
    <p:sldId id="269" r:id="rId14"/>
    <p:sldId id="270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CA0CAC-8261-4219-A088-087381044AFB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46783-4761-4BA7-8F24-58B7A5D0C0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71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Least Squares Method</a:t>
            </a:r>
            <a:r>
              <a:rPr lang="zh-CN" altLang="en-US" b="1" dirty="0"/>
              <a:t>， </a:t>
            </a:r>
            <a:r>
              <a:rPr lang="en-US" altLang="zh-CN" b="1" dirty="0"/>
              <a:t>or more complicated approach takes longer computation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46783-4761-4BA7-8F24-58B7A5D0C07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592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mt.copernicus.org/articles/18/1537/2025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B4645-D4BF-0C12-0C04-88CDFCC778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90956"/>
            <a:ext cx="9144000" cy="3121833"/>
          </a:xfrm>
        </p:spPr>
        <p:txBody>
          <a:bodyPr anchor="ctr" anchorCtr="0">
            <a:normAutofit/>
          </a:bodyPr>
          <a:lstStyle/>
          <a:p>
            <a:r>
              <a:rPr lang="en-US" altLang="zh-CN" dirty="0" err="1"/>
              <a:t>Masslist_Pro</a:t>
            </a:r>
            <a:r>
              <a:rPr lang="en-US" altLang="zh-CN" dirty="0"/>
              <a:t> GUI </a:t>
            </a:r>
            <a:br>
              <a:rPr lang="en-US" altLang="zh-CN" dirty="0"/>
            </a:br>
            <a:r>
              <a:rPr lang="en-US" altLang="zh-CN" dirty="0"/>
              <a:t>Readme</a:t>
            </a:r>
            <a:endParaRPr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AD2ECD-D55A-C60E-46E7-3C1F44723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44195"/>
            <a:ext cx="9144000" cy="1655762"/>
          </a:xfrm>
        </p:spPr>
        <p:txBody>
          <a:bodyPr/>
          <a:lstStyle/>
          <a:p>
            <a:r>
              <a:rPr lang="en-US" altLang="zh-CN" dirty="0"/>
              <a:t>Zhensen 2026-01-26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1782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60B1C-2290-9460-F2F4-F9379B7DD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C1BCD3-D66F-27E3-F94F-CF5A8310E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5" y="909176"/>
            <a:ext cx="12192000" cy="52121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F8244F-6C75-D207-9BED-C367C0E2B2AF}"/>
              </a:ext>
            </a:extLst>
          </p:cNvPr>
          <p:cNvSpPr txBox="1"/>
          <p:nvPr/>
        </p:nvSpPr>
        <p:spPr>
          <a:xfrm>
            <a:off x="301924" y="197335"/>
            <a:ext cx="9169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Assign formulas: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considering the isotopic distribution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221168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CC775F4-B9A8-672E-2E06-65FC58B77DD0}"/>
              </a:ext>
            </a:extLst>
          </p:cNvPr>
          <p:cNvSpPr txBox="1"/>
          <p:nvPr/>
        </p:nvSpPr>
        <p:spPr>
          <a:xfrm>
            <a:off x="276045" y="215660"/>
            <a:ext cx="5057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The pain of Data processing of mass spectrum</a:t>
            </a:r>
            <a:endParaRPr lang="zh-CN" altLang="en-US" sz="2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B629A0-0A02-4341-CDF0-EAB8D656B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2405"/>
            <a:ext cx="12192000" cy="30149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8B63B-DD80-FFFF-BC84-2BB6F142FF4D}"/>
              </a:ext>
            </a:extLst>
          </p:cNvPr>
          <p:cNvSpPr txBox="1"/>
          <p:nvPr/>
        </p:nvSpPr>
        <p:spPr>
          <a:xfrm>
            <a:off x="462790" y="4327584"/>
            <a:ext cx="9742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How could we find out what are measured compounds from mass spectrum data?</a:t>
            </a:r>
          </a:p>
          <a:p>
            <a:pPr marL="342900" indent="-342900">
              <a:buAutoNum type="arabicPeriod"/>
            </a:pPr>
            <a:r>
              <a:rPr lang="en-US" altLang="zh-CN" dirty="0"/>
              <a:t>From experience (Best case but needs experience)</a:t>
            </a:r>
          </a:p>
          <a:p>
            <a:pPr marL="342900" indent="-342900">
              <a:buAutoNum type="arabicPeriod"/>
            </a:pPr>
            <a:r>
              <a:rPr lang="en-US" altLang="zh-CN" dirty="0"/>
              <a:t>From literature and chemical dataset</a:t>
            </a:r>
            <a:r>
              <a:rPr lang="zh-CN" altLang="en-US" dirty="0"/>
              <a:t> </a:t>
            </a:r>
            <a:r>
              <a:rPr lang="en-US" altLang="zh-CN" dirty="0"/>
              <a:t>(good but time-consuming)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EE7E4B-CFA9-2562-380F-1A2FF09E28E9}"/>
              </a:ext>
            </a:extLst>
          </p:cNvPr>
          <p:cNvSpPr txBox="1"/>
          <p:nvPr/>
        </p:nvSpPr>
        <p:spPr>
          <a:xfrm>
            <a:off x="462790" y="5765320"/>
            <a:ext cx="974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Could we automatically assign formulas to mass spectrum by an algorithm?</a:t>
            </a:r>
          </a:p>
        </p:txBody>
      </p:sp>
    </p:spTree>
    <p:extLst>
      <p:ext uri="{BB962C8B-B14F-4D97-AF65-F5344CB8AC3E}">
        <p14:creationId xmlns:p14="http://schemas.microsoft.com/office/powerpoint/2010/main" val="1246630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BAA2C6-550C-E795-A26B-BBBF03163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203" y="430998"/>
            <a:ext cx="7569589" cy="55819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E818BE-A2EA-B1EA-3509-FF3E7D07C821}"/>
              </a:ext>
            </a:extLst>
          </p:cNvPr>
          <p:cNvSpPr txBox="1"/>
          <p:nvPr/>
        </p:nvSpPr>
        <p:spPr>
          <a:xfrm>
            <a:off x="1178040" y="6242336"/>
            <a:ext cx="9835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3"/>
              </a:rPr>
              <a:t>AMT - An algorithm for automatic fitting and formula assignment in atmospheric mass spectra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1457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8DE2A-C68F-2681-9C94-4E957908F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B30ED8-94FE-0B98-F77B-730718686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797" y="507109"/>
            <a:ext cx="10399992" cy="63508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DE4132-71BD-8870-44CA-869B2FFC465D}"/>
              </a:ext>
            </a:extLst>
          </p:cNvPr>
          <p:cNvSpPr txBox="1"/>
          <p:nvPr/>
        </p:nvSpPr>
        <p:spPr>
          <a:xfrm>
            <a:off x="276045" y="106999"/>
            <a:ext cx="9169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Dividing into different mass range and fit data based on the peak shape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615689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989A7-930A-377D-19B9-414209A7D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9997EC-E4EC-A0D6-AD5B-26B274D19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205" y="1363965"/>
            <a:ext cx="6021238" cy="41300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C6CBEA-3918-FB4A-B52C-ED5ADCAF1D93}"/>
              </a:ext>
            </a:extLst>
          </p:cNvPr>
          <p:cNvSpPr txBox="1"/>
          <p:nvPr/>
        </p:nvSpPr>
        <p:spPr>
          <a:xfrm>
            <a:off x="301924" y="197335"/>
            <a:ext cx="9169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Fitting the function (from CLAUDE AI)</a:t>
            </a:r>
            <a:endParaRPr lang="zh-CN" altLang="en-US" sz="20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3B1C5D-0FF0-0933-4B1C-5B948AE22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95" y="897723"/>
            <a:ext cx="5943905" cy="55628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3D92A16-FC14-3481-75C0-06A8E10BE9A1}"/>
              </a:ext>
            </a:extLst>
          </p:cNvPr>
          <p:cNvSpPr txBox="1"/>
          <p:nvPr/>
        </p:nvSpPr>
        <p:spPr>
          <a:xfrm>
            <a:off x="6480595" y="5494034"/>
            <a:ext cx="3551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 err="1">
                <a:solidFill>
                  <a:srgbClr val="004279"/>
                </a:solidFill>
                <a:effectLst/>
                <a:latin typeface="Open Sans" panose="020B0606030504020204" pitchFamily="34" charset="0"/>
              </a:rPr>
              <a:t>Mickwitz</a:t>
            </a:r>
            <a:r>
              <a:rPr lang="en-US" altLang="zh-CN" b="0" i="0" dirty="0">
                <a:solidFill>
                  <a:srgbClr val="004279"/>
                </a:solidFill>
                <a:effectLst/>
                <a:latin typeface="Open Sans" panose="020B0606030504020204" pitchFamily="34" charset="0"/>
              </a:rPr>
              <a:t> et al., AMT, 2025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3976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20368-AFBA-C423-AE0E-CF375C1F3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96D0CF-416C-7602-E589-67CBF634E5EF}"/>
              </a:ext>
            </a:extLst>
          </p:cNvPr>
          <p:cNvSpPr txBox="1"/>
          <p:nvPr/>
        </p:nvSpPr>
        <p:spPr>
          <a:xfrm>
            <a:off x="301924" y="197335"/>
            <a:ext cx="9169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Determining number of peaks for fitting (in a small range)</a:t>
            </a:r>
            <a:endParaRPr lang="zh-CN" altLang="en-US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B08765-CFB3-1688-F051-53D0D7561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316" y="677094"/>
            <a:ext cx="5652760" cy="56830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70789A-943D-900B-EC17-CBB5658DC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9620" y="1005333"/>
            <a:ext cx="3149762" cy="42229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AD84AD-C984-411E-15CC-31A7E213D1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31" y="2479422"/>
            <a:ext cx="2329559" cy="6692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ECBC78-9E73-5167-8C5A-D8704EDC83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992" y="3371568"/>
            <a:ext cx="1670136" cy="4254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4A521B7-88D6-C2C1-64A1-3364C64E752D}"/>
              </a:ext>
            </a:extLst>
          </p:cNvPr>
          <p:cNvSpPr txBox="1"/>
          <p:nvPr/>
        </p:nvSpPr>
        <p:spPr>
          <a:xfrm>
            <a:off x="372752" y="4732382"/>
            <a:ext cx="31497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Overall,</a:t>
            </a:r>
          </a:p>
          <a:p>
            <a:r>
              <a:rPr lang="en-US" altLang="zh-CN" sz="2000" dirty="0"/>
              <a:t>This score is less is better</a:t>
            </a:r>
            <a:endParaRPr lang="zh-CN" alt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4FC4B8-A28F-21DB-C529-B187EED25EF1}"/>
              </a:ext>
            </a:extLst>
          </p:cNvPr>
          <p:cNvSpPr txBox="1"/>
          <p:nvPr/>
        </p:nvSpPr>
        <p:spPr>
          <a:xfrm>
            <a:off x="7349706" y="6475999"/>
            <a:ext cx="3551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 err="1">
                <a:solidFill>
                  <a:srgbClr val="004279"/>
                </a:solidFill>
                <a:effectLst/>
                <a:latin typeface="Open Sans" panose="020B0606030504020204" pitchFamily="34" charset="0"/>
              </a:rPr>
              <a:t>Mickwitz</a:t>
            </a:r>
            <a:r>
              <a:rPr lang="en-US" altLang="zh-CN" b="0" i="0" dirty="0">
                <a:solidFill>
                  <a:srgbClr val="004279"/>
                </a:solidFill>
                <a:effectLst/>
                <a:latin typeface="Open Sans" panose="020B0606030504020204" pitchFamily="34" charset="0"/>
              </a:rPr>
              <a:t> et al., AMT, 2025</a:t>
            </a:r>
            <a:endParaRPr lang="zh-CN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5E497F-FB17-4A23-AEF4-4B0DB7794294}"/>
              </a:ext>
            </a:extLst>
          </p:cNvPr>
          <p:cNvSpPr txBox="1"/>
          <p:nvPr/>
        </p:nvSpPr>
        <p:spPr>
          <a:xfrm>
            <a:off x="390217" y="5452557"/>
            <a:ext cx="5264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This method is more Stratford and efficient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61567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8FEC1-CD3E-1C1C-9FEA-21408537B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BA8171-BF1D-C2B5-C874-0251A900C41A}"/>
              </a:ext>
            </a:extLst>
          </p:cNvPr>
          <p:cNvSpPr txBox="1"/>
          <p:nvPr/>
        </p:nvSpPr>
        <p:spPr>
          <a:xfrm>
            <a:off x="386300" y="535911"/>
            <a:ext cx="9001125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400" b="1" dirty="0"/>
              <a:t>1. Organic Species Rules (C ≥ 1)</a:t>
            </a:r>
            <a:endParaRPr lang="en-US" altLang="zh-C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400" b="1" dirty="0"/>
              <a:t>Scope:</a:t>
            </a:r>
            <a:r>
              <a:rPr lang="en-US" altLang="zh-CN" sz="1400" dirty="0"/>
              <a:t> Precursors, Oxidation Products (MVK, ISOPOOH, </a:t>
            </a:r>
            <a:r>
              <a:rPr lang="en-US" altLang="zh-CN" sz="1400" dirty="0" err="1"/>
              <a:t>Pinonaldehyde</a:t>
            </a:r>
            <a:r>
              <a:rPr lang="en-US" altLang="zh-CN" sz="1400" dirty="0"/>
              <a:t>, HOMs).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400" b="1" dirty="0"/>
              <a:t>Constraints:</a:t>
            </a:r>
            <a:endParaRPr lang="en-US" altLang="zh-CN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b="1" dirty="0"/>
              <a:t>0.3≤</a:t>
            </a:r>
            <a:r>
              <a:rPr lang="en-US" altLang="zh-CN" sz="1400" b="1" dirty="0">
                <a:effectLst/>
              </a:rPr>
              <a:t>H</a:t>
            </a:r>
            <a:r>
              <a:rPr lang="en-US" altLang="zh-CN" sz="1400" b="1" dirty="0"/>
              <a:t>/</a:t>
            </a:r>
            <a:r>
              <a:rPr lang="en-US" altLang="zh-CN" sz="1400" b="1" dirty="0">
                <a:effectLst/>
              </a:rPr>
              <a:t>C</a:t>
            </a:r>
            <a:r>
              <a:rPr lang="en-US" altLang="zh-CN" sz="1400" b="1" dirty="0"/>
              <a:t>≤2.5:</a:t>
            </a:r>
            <a:r>
              <a:rPr lang="en-US" altLang="zh-CN" sz="1400" dirty="0"/>
              <a:t> Filters impossible structures (</a:t>
            </a:r>
            <a:r>
              <a:rPr lang="en-US" altLang="zh-CN" sz="1400" b="1" i="1" dirty="0"/>
              <a:t>Note: Small molecules like methane/DMS may exceed this</a:t>
            </a:r>
            <a:r>
              <a:rPr lang="en-US" altLang="zh-CN" sz="1400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b="1" dirty="0"/>
              <a:t>0.0≤</a:t>
            </a:r>
            <a:r>
              <a:rPr lang="en-US" altLang="zh-CN" sz="1400" b="1" dirty="0">
                <a:effectLst/>
              </a:rPr>
              <a:t>O</a:t>
            </a:r>
            <a:r>
              <a:rPr lang="en-US" altLang="zh-CN" sz="1400" b="1" dirty="0"/>
              <a:t>/</a:t>
            </a:r>
            <a:r>
              <a:rPr lang="en-US" altLang="zh-CN" sz="1400" b="1" dirty="0">
                <a:effectLst/>
              </a:rPr>
              <a:t>C</a:t>
            </a:r>
            <a:r>
              <a:rPr lang="en-US" altLang="zh-CN" sz="1400" b="1" dirty="0"/>
              <a:t>≤3.0:</a:t>
            </a:r>
            <a:r>
              <a:rPr lang="en-US" altLang="zh-CN" sz="1400" dirty="0"/>
              <a:t> Allows highly oxidized molecules (ELVOCs/HOMs).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400" b="1" dirty="0"/>
              <a:t>Identification Examples:</a:t>
            </a:r>
            <a:endParaRPr lang="en-US" altLang="zh-CN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b="1" dirty="0"/>
              <a:t>Isoprene (</a:t>
            </a:r>
            <a:r>
              <a:rPr lang="en-US" altLang="zh-CN" sz="1400" b="1" dirty="0">
                <a:effectLst/>
              </a:rPr>
              <a:t>C5</a:t>
            </a:r>
            <a:r>
              <a:rPr lang="en-US" altLang="zh-CN" sz="1400" b="1" dirty="0"/>
              <a:t>​</a:t>
            </a:r>
            <a:r>
              <a:rPr lang="en-US" altLang="zh-CN" sz="1400" b="1" dirty="0">
                <a:effectLst/>
              </a:rPr>
              <a:t>H8</a:t>
            </a:r>
            <a:r>
              <a:rPr lang="en-US" altLang="zh-CN" sz="1400" b="1" dirty="0"/>
              <a:t>​):</a:t>
            </a:r>
            <a:endParaRPr lang="en-US" altLang="zh-CN" sz="14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zh-CN" sz="1400" dirty="0"/>
              <a:t>Precursor: </a:t>
            </a:r>
            <a:r>
              <a:rPr lang="en-US" altLang="zh-CN" sz="1400" dirty="0">
                <a:effectLst/>
              </a:rPr>
              <a:t>C5</a:t>
            </a:r>
            <a:r>
              <a:rPr lang="en-US" altLang="zh-CN" sz="1400" dirty="0"/>
              <a:t>​</a:t>
            </a:r>
            <a:r>
              <a:rPr lang="en-US" altLang="zh-CN" sz="1400" dirty="0">
                <a:effectLst/>
              </a:rPr>
              <a:t>H8</a:t>
            </a:r>
            <a:r>
              <a:rPr lang="en-US" altLang="zh-CN" sz="1400" dirty="0"/>
              <a:t>​ [Pass].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zh-CN" sz="1400" dirty="0"/>
              <a:t>Oxidation: </a:t>
            </a:r>
            <a:r>
              <a:rPr lang="en-US" altLang="zh-CN" sz="1400" b="1" dirty="0"/>
              <a:t>MVK (</a:t>
            </a:r>
            <a:r>
              <a:rPr lang="en-US" altLang="zh-CN" sz="1400" b="1" dirty="0">
                <a:effectLst/>
              </a:rPr>
              <a:t>C4</a:t>
            </a:r>
            <a:r>
              <a:rPr lang="en-US" altLang="zh-CN" sz="1400" b="1" dirty="0"/>
              <a:t>​</a:t>
            </a:r>
            <a:r>
              <a:rPr lang="en-US" altLang="zh-CN" sz="1400" b="1" dirty="0">
                <a:effectLst/>
              </a:rPr>
              <a:t>H6</a:t>
            </a:r>
            <a:r>
              <a:rPr lang="en-US" altLang="zh-CN" sz="1400" b="1" dirty="0"/>
              <a:t>​</a:t>
            </a:r>
            <a:r>
              <a:rPr lang="en-US" altLang="zh-CN" sz="1400" b="1" dirty="0">
                <a:effectLst/>
              </a:rPr>
              <a:t>O</a:t>
            </a:r>
            <a:r>
              <a:rPr lang="en-US" altLang="zh-CN" sz="1400" b="1" dirty="0"/>
              <a:t>)</a:t>
            </a:r>
            <a:r>
              <a:rPr lang="en-US" altLang="zh-CN" sz="1400" dirty="0"/>
              <a:t> [Pass]. </a:t>
            </a:r>
            <a:r>
              <a:rPr lang="en-US" altLang="zh-CN" sz="1400" i="1" dirty="0"/>
              <a:t>(</a:t>
            </a:r>
            <a:r>
              <a:rPr lang="en-US" altLang="zh-CN" sz="1400" i="1" dirty="0" err="1"/>
              <a:t>Mickwitz</a:t>
            </a:r>
            <a:r>
              <a:rPr lang="en-US" altLang="zh-CN" sz="1400" i="1" dirty="0"/>
              <a:t>/MVK)</a:t>
            </a:r>
            <a:endParaRPr lang="en-US" altLang="zh-CN" sz="14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zh-CN" sz="1400" dirty="0"/>
              <a:t>Oxidation: </a:t>
            </a:r>
            <a:r>
              <a:rPr lang="en-US" altLang="zh-CN" sz="1400" b="1" dirty="0"/>
              <a:t>ISOPOOH (</a:t>
            </a:r>
            <a:r>
              <a:rPr lang="en-US" altLang="zh-CN" sz="1400" b="1" dirty="0">
                <a:effectLst/>
              </a:rPr>
              <a:t>C5</a:t>
            </a:r>
            <a:r>
              <a:rPr lang="en-US" altLang="zh-CN" sz="1400" b="1" dirty="0"/>
              <a:t>​</a:t>
            </a:r>
            <a:r>
              <a:rPr lang="en-US" altLang="zh-CN" sz="1400" b="1" dirty="0">
                <a:effectLst/>
              </a:rPr>
              <a:t>H10</a:t>
            </a:r>
            <a:r>
              <a:rPr lang="en-US" altLang="zh-CN" sz="1400" b="1" dirty="0"/>
              <a:t>​</a:t>
            </a:r>
            <a:r>
              <a:rPr lang="en-US" altLang="zh-CN" sz="1400" b="1" dirty="0">
                <a:effectLst/>
              </a:rPr>
              <a:t>O3</a:t>
            </a:r>
            <a:r>
              <a:rPr lang="en-US" altLang="zh-CN" sz="1400" b="1" dirty="0"/>
              <a:t>​)</a:t>
            </a:r>
            <a:r>
              <a:rPr lang="en-US" altLang="zh-CN" sz="1400" dirty="0"/>
              <a:t> [Pass].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altLang="zh-CN" sz="1400" b="1" dirty="0">
                <a:effectLst/>
              </a:rPr>
              <a:t>α</a:t>
            </a:r>
            <a:r>
              <a:rPr lang="el-GR" altLang="zh-CN" sz="1400" b="1" dirty="0"/>
              <a:t>-</a:t>
            </a:r>
            <a:r>
              <a:rPr lang="en-US" altLang="zh-CN" sz="1400" b="1" dirty="0"/>
              <a:t>Pinene (</a:t>
            </a:r>
            <a:r>
              <a:rPr lang="en-US" altLang="zh-CN" sz="1400" b="1" dirty="0">
                <a:effectLst/>
              </a:rPr>
              <a:t>C10</a:t>
            </a:r>
            <a:r>
              <a:rPr lang="en-US" altLang="zh-CN" sz="1400" b="1" dirty="0"/>
              <a:t>​</a:t>
            </a:r>
            <a:r>
              <a:rPr lang="en-US" altLang="zh-CN" sz="1400" b="1" dirty="0">
                <a:effectLst/>
              </a:rPr>
              <a:t>H16</a:t>
            </a:r>
            <a:r>
              <a:rPr lang="en-US" altLang="zh-CN" sz="1400" b="1" dirty="0"/>
              <a:t>​):</a:t>
            </a:r>
            <a:endParaRPr lang="en-US" altLang="zh-CN" sz="14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zh-CN" sz="1400" dirty="0"/>
              <a:t>Oxidation: </a:t>
            </a:r>
            <a:r>
              <a:rPr lang="en-US" altLang="zh-CN" sz="1400" b="1" dirty="0" err="1"/>
              <a:t>Pinonaldehyde</a:t>
            </a:r>
            <a:r>
              <a:rPr lang="en-US" altLang="zh-CN" sz="1400" b="1" dirty="0"/>
              <a:t> (</a:t>
            </a:r>
            <a:r>
              <a:rPr lang="en-US" altLang="zh-CN" sz="1400" b="1" dirty="0">
                <a:effectLst/>
              </a:rPr>
              <a:t>C10</a:t>
            </a:r>
            <a:r>
              <a:rPr lang="en-US" altLang="zh-CN" sz="1400" b="1" dirty="0"/>
              <a:t>​</a:t>
            </a:r>
            <a:r>
              <a:rPr lang="en-US" altLang="zh-CN" sz="1400" b="1" dirty="0">
                <a:effectLst/>
              </a:rPr>
              <a:t>H16</a:t>
            </a:r>
            <a:r>
              <a:rPr lang="en-US" altLang="zh-CN" sz="1400" b="1" dirty="0"/>
              <a:t>​</a:t>
            </a:r>
            <a:r>
              <a:rPr lang="en-US" altLang="zh-CN" sz="1400" b="1" dirty="0">
                <a:effectLst/>
              </a:rPr>
              <a:t>O2</a:t>
            </a:r>
            <a:r>
              <a:rPr lang="en-US" altLang="zh-CN" sz="1400" b="1" dirty="0"/>
              <a:t>​)</a:t>
            </a:r>
            <a:r>
              <a:rPr lang="en-US" altLang="zh-CN" sz="1400" dirty="0"/>
              <a:t> [Pass].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zh-CN" sz="1400" dirty="0"/>
              <a:t>Oxidation: </a:t>
            </a:r>
            <a:r>
              <a:rPr lang="en-US" altLang="zh-CN" sz="1400" b="1" dirty="0" err="1"/>
              <a:t>Pinonic</a:t>
            </a:r>
            <a:r>
              <a:rPr lang="en-US" altLang="zh-CN" sz="1400" b="1" dirty="0"/>
              <a:t> Acid (</a:t>
            </a:r>
            <a:r>
              <a:rPr lang="en-US" altLang="zh-CN" sz="1400" b="1" dirty="0">
                <a:effectLst/>
              </a:rPr>
              <a:t>C10</a:t>
            </a:r>
            <a:r>
              <a:rPr lang="en-US" altLang="zh-CN" sz="1400" b="1" dirty="0"/>
              <a:t>​</a:t>
            </a:r>
            <a:r>
              <a:rPr lang="en-US" altLang="zh-CN" sz="1400" b="1" dirty="0">
                <a:effectLst/>
              </a:rPr>
              <a:t>H16</a:t>
            </a:r>
            <a:r>
              <a:rPr lang="en-US" altLang="zh-CN" sz="1400" b="1" dirty="0"/>
              <a:t>​</a:t>
            </a:r>
            <a:r>
              <a:rPr lang="en-US" altLang="zh-CN" sz="1400" b="1" dirty="0">
                <a:effectLst/>
              </a:rPr>
              <a:t>O3</a:t>
            </a:r>
            <a:r>
              <a:rPr lang="en-US" altLang="zh-CN" sz="1400" b="1" dirty="0"/>
              <a:t>​)</a:t>
            </a:r>
            <a:r>
              <a:rPr lang="en-US" altLang="zh-CN" sz="1400" dirty="0"/>
              <a:t> [Pass].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b="1" dirty="0"/>
              <a:t>Trimethylbenzene (TMB, </a:t>
            </a:r>
            <a:r>
              <a:rPr lang="en-US" altLang="zh-CN" sz="1400" b="1" dirty="0">
                <a:effectLst/>
              </a:rPr>
              <a:t>C9</a:t>
            </a:r>
            <a:r>
              <a:rPr lang="en-US" altLang="zh-CN" sz="1400" b="1" dirty="0"/>
              <a:t>​</a:t>
            </a:r>
            <a:r>
              <a:rPr lang="en-US" altLang="zh-CN" sz="1400" b="1" dirty="0">
                <a:effectLst/>
              </a:rPr>
              <a:t>H12</a:t>
            </a:r>
            <a:r>
              <a:rPr lang="en-US" altLang="zh-CN" sz="1400" b="1" dirty="0"/>
              <a:t>​):</a:t>
            </a:r>
            <a:endParaRPr lang="en-US" altLang="zh-CN" sz="14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zh-CN" sz="1400" dirty="0"/>
              <a:t>Oxidation: </a:t>
            </a:r>
            <a:r>
              <a:rPr lang="en-US" altLang="zh-CN" sz="1400" b="1" dirty="0">
                <a:effectLst/>
              </a:rPr>
              <a:t>C9</a:t>
            </a:r>
            <a:r>
              <a:rPr lang="en-US" altLang="zh-CN" sz="1400" b="1" dirty="0"/>
              <a:t>​</a:t>
            </a:r>
            <a:r>
              <a:rPr lang="en-US" altLang="zh-CN" sz="1400" b="1" dirty="0">
                <a:effectLst/>
              </a:rPr>
              <a:t>H12</a:t>
            </a:r>
            <a:r>
              <a:rPr lang="en-US" altLang="zh-CN" sz="1400" b="1" dirty="0"/>
              <a:t>​</a:t>
            </a:r>
            <a:r>
              <a:rPr lang="en-US" altLang="zh-CN" sz="1400" b="1" dirty="0">
                <a:effectLst/>
              </a:rPr>
              <a:t>O5</a:t>
            </a:r>
            <a:r>
              <a:rPr lang="en-US" altLang="zh-CN" sz="1400" b="1" dirty="0"/>
              <a:t>​</a:t>
            </a:r>
            <a:r>
              <a:rPr lang="en-US" altLang="zh-CN" sz="1400" dirty="0"/>
              <a:t> (Auto-oxidation HOM) [Pass].</a:t>
            </a:r>
          </a:p>
          <a:p>
            <a:pPr>
              <a:buNone/>
            </a:pPr>
            <a:r>
              <a:rPr lang="en-US" altLang="zh-CN" sz="1400" b="1" dirty="0"/>
              <a:t>2. Inorganic Species Rules (C = 0)</a:t>
            </a:r>
            <a:endParaRPr lang="en-US" altLang="zh-C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400" b="1" dirty="0"/>
              <a:t>Scope:</a:t>
            </a:r>
            <a:r>
              <a:rPr lang="en-US" altLang="zh-CN" sz="1400" dirty="0"/>
              <a:t> Inorganic precursors &amp; acids (</a:t>
            </a:r>
            <a:r>
              <a:rPr lang="en-US" altLang="zh-CN" sz="1400" dirty="0">
                <a:effectLst/>
              </a:rPr>
              <a:t>SO2</a:t>
            </a:r>
            <a:r>
              <a:rPr lang="en-US" altLang="zh-CN" sz="1400" dirty="0"/>
              <a:t>​,</a:t>
            </a:r>
            <a:r>
              <a:rPr lang="en-US" altLang="zh-CN" sz="1400" dirty="0">
                <a:effectLst/>
              </a:rPr>
              <a:t>H2</a:t>
            </a:r>
            <a:r>
              <a:rPr lang="en-US" altLang="zh-CN" sz="1400" dirty="0"/>
              <a:t>​</a:t>
            </a:r>
            <a:r>
              <a:rPr lang="en-US" altLang="zh-CN" sz="1400" dirty="0">
                <a:effectLst/>
              </a:rPr>
              <a:t>SO4</a:t>
            </a:r>
            <a:r>
              <a:rPr lang="en-US" altLang="zh-CN" sz="1400" dirty="0"/>
              <a:t>​,</a:t>
            </a:r>
            <a:r>
              <a:rPr lang="en-US" altLang="zh-CN" sz="1400" dirty="0">
                <a:effectLst/>
              </a:rPr>
              <a:t>HNO3</a:t>
            </a:r>
            <a:r>
              <a:rPr lang="en-US" altLang="zh-CN" sz="1400" dirty="0"/>
              <a:t>​).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400" b="1" dirty="0"/>
              <a:t>Constraints:</a:t>
            </a:r>
            <a:endParaRPr lang="en-US" altLang="zh-CN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b="1" dirty="0"/>
              <a:t>Heteroatom Check:</a:t>
            </a:r>
            <a:r>
              <a:rPr lang="en-US" altLang="zh-CN" sz="1400" dirty="0"/>
              <a:t> Must contain </a:t>
            </a:r>
            <a:r>
              <a:rPr lang="en-US" altLang="zh-CN" sz="1400" b="1" dirty="0"/>
              <a:t>S</a:t>
            </a:r>
            <a:r>
              <a:rPr lang="en-US" altLang="zh-CN" sz="1400" dirty="0"/>
              <a:t> or </a:t>
            </a:r>
            <a:r>
              <a:rPr lang="en-US" altLang="zh-CN" sz="1400" b="1" dirty="0"/>
              <a:t>N</a:t>
            </a:r>
            <a:r>
              <a:rPr lang="en-US" altLang="zh-CN" sz="1400" dirty="0"/>
              <a:t> (Strictly filters pure water clusters </a:t>
            </a:r>
            <a:r>
              <a:rPr lang="en-US" altLang="zh-CN" sz="1400" dirty="0" err="1">
                <a:effectLst/>
              </a:rPr>
              <a:t>Hx</a:t>
            </a:r>
            <a:r>
              <a:rPr lang="en-US" altLang="zh-CN" sz="1400" dirty="0"/>
              <a:t>​</a:t>
            </a:r>
            <a:r>
              <a:rPr lang="en-US" altLang="zh-CN" sz="1400" dirty="0">
                <a:effectLst/>
              </a:rPr>
              <a:t>Oy</a:t>
            </a:r>
            <a:r>
              <a:rPr lang="en-US" altLang="zh-CN" sz="1400" dirty="0"/>
              <a:t>​).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b="1" dirty="0"/>
              <a:t>Safety Cap:</a:t>
            </a:r>
            <a:r>
              <a:rPr lang="en-US" altLang="zh-CN" sz="1400" dirty="0"/>
              <a:t> </a:t>
            </a:r>
            <a:r>
              <a:rPr lang="en-US" altLang="zh-CN" sz="1400" dirty="0">
                <a:effectLst/>
              </a:rPr>
              <a:t>H</a:t>
            </a:r>
            <a:r>
              <a:rPr lang="en-US" altLang="zh-CN" sz="1400" dirty="0"/>
              <a:t>≤12. </a:t>
            </a:r>
            <a:r>
              <a:rPr lang="en-US" altLang="zh-CN" sz="1400" b="1" dirty="0"/>
              <a:t>Ratio Checks:</a:t>
            </a:r>
            <a:r>
              <a:rPr lang="en-US" altLang="zh-CN" sz="1400" dirty="0"/>
              <a:t> Skipped.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400" b="1" dirty="0"/>
              <a:t>DMS Inorganic Products:</a:t>
            </a:r>
            <a:endParaRPr lang="en-US" altLang="zh-CN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b="1" dirty="0">
                <a:effectLst/>
              </a:rPr>
              <a:t>SO2</a:t>
            </a:r>
            <a:r>
              <a:rPr lang="en-US" altLang="zh-CN" sz="1400" b="1" dirty="0"/>
              <a:t>​:</a:t>
            </a:r>
            <a:r>
              <a:rPr lang="en-US" altLang="zh-CN" sz="1400" dirty="0"/>
              <a:t> [Pass].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b="1" dirty="0"/>
              <a:t>Sulfuric Acid (</a:t>
            </a:r>
            <a:r>
              <a:rPr lang="en-US" altLang="zh-CN" sz="1400" b="1" dirty="0">
                <a:effectLst/>
              </a:rPr>
              <a:t>H2</a:t>
            </a:r>
            <a:r>
              <a:rPr lang="en-US" altLang="zh-CN" sz="1400" b="1" dirty="0"/>
              <a:t>​</a:t>
            </a:r>
            <a:r>
              <a:rPr lang="en-US" altLang="zh-CN" sz="1400" b="1" dirty="0">
                <a:effectLst/>
              </a:rPr>
              <a:t>SO4</a:t>
            </a:r>
            <a:r>
              <a:rPr lang="en-US" altLang="zh-CN" sz="1400" b="1" dirty="0"/>
              <a:t>​):</a:t>
            </a:r>
            <a:r>
              <a:rPr lang="en-US" altLang="zh-CN" sz="1400" dirty="0"/>
              <a:t> [Pass].</a:t>
            </a:r>
          </a:p>
          <a:p>
            <a:pPr>
              <a:buNone/>
            </a:pPr>
            <a:r>
              <a:rPr lang="en-US" altLang="zh-CN" sz="1400" b="1" dirty="0"/>
              <a:t>3. Special Case: Small Sulfur Organics (DMS Loophole)</a:t>
            </a:r>
            <a:endParaRPr lang="en-US" altLang="zh-C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400" i="1" dirty="0"/>
              <a:t>Issue:</a:t>
            </a:r>
            <a:r>
              <a:rPr lang="en-US" altLang="zh-CN" sz="1400" dirty="0"/>
              <a:t> Small molecules often have high H/C ratios (&gt;2.5).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400" b="1" dirty="0"/>
              <a:t>DMS (</a:t>
            </a:r>
            <a:r>
              <a:rPr lang="en-US" altLang="zh-CN" sz="1400" b="1" dirty="0">
                <a:effectLst/>
              </a:rPr>
              <a:t>C2</a:t>
            </a:r>
            <a:r>
              <a:rPr lang="en-US" altLang="zh-CN" sz="1400" b="1" dirty="0"/>
              <a:t>​</a:t>
            </a:r>
            <a:r>
              <a:rPr lang="en-US" altLang="zh-CN" sz="1400" b="1" dirty="0">
                <a:effectLst/>
              </a:rPr>
              <a:t>H6</a:t>
            </a:r>
            <a:r>
              <a:rPr lang="en-US" altLang="zh-CN" sz="1400" b="1" dirty="0"/>
              <a:t>​</a:t>
            </a:r>
            <a:r>
              <a:rPr lang="en-US" altLang="zh-CN" sz="1400" b="1" dirty="0">
                <a:effectLst/>
              </a:rPr>
              <a:t>S</a:t>
            </a:r>
            <a:r>
              <a:rPr lang="en-US" altLang="zh-CN" sz="1400" b="1" dirty="0"/>
              <a:t>):</a:t>
            </a:r>
            <a:r>
              <a:rPr lang="en-US" altLang="zh-CN" sz="1400" dirty="0"/>
              <a:t> </a:t>
            </a:r>
            <a:r>
              <a:rPr lang="en-US" altLang="zh-CN" sz="1400" dirty="0">
                <a:effectLst/>
              </a:rPr>
              <a:t>H</a:t>
            </a:r>
            <a:r>
              <a:rPr lang="en-US" altLang="zh-CN" sz="1400" dirty="0"/>
              <a:t>/</a:t>
            </a:r>
            <a:r>
              <a:rPr lang="en-US" altLang="zh-CN" sz="1400" dirty="0">
                <a:effectLst/>
              </a:rPr>
              <a:t>C</a:t>
            </a:r>
            <a:r>
              <a:rPr lang="en-US" altLang="zh-CN" sz="1400" dirty="0"/>
              <a:t>=3.0. </a:t>
            </a:r>
            <a:r>
              <a:rPr lang="en-US" altLang="zh-CN" sz="1400" b="1" dirty="0"/>
              <a:t>Flagged</a:t>
            </a:r>
            <a:r>
              <a:rPr lang="en-US" altLang="zh-CN" sz="1400" dirty="0"/>
              <a:t> by strict logic. → </a:t>
            </a:r>
            <a:r>
              <a:rPr lang="en-US" altLang="zh-CN" sz="1400" i="1" dirty="0"/>
              <a:t>Must Load via </a:t>
            </a:r>
            <a:r>
              <a:rPr lang="en-US" altLang="zh-CN" sz="1400" i="1" dirty="0" err="1"/>
              <a:t>MassList</a:t>
            </a:r>
            <a:r>
              <a:rPr lang="en-US" altLang="zh-CN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400" b="1" dirty="0"/>
              <a:t>MSA (</a:t>
            </a:r>
            <a:r>
              <a:rPr lang="en-US" altLang="zh-CN" sz="1400" b="1" dirty="0">
                <a:effectLst/>
              </a:rPr>
              <a:t>CH4</a:t>
            </a:r>
            <a:r>
              <a:rPr lang="en-US" altLang="zh-CN" sz="1400" b="1" dirty="0"/>
              <a:t>​</a:t>
            </a:r>
            <a:r>
              <a:rPr lang="en-US" altLang="zh-CN" sz="1400" b="1" dirty="0">
                <a:effectLst/>
              </a:rPr>
              <a:t>O3</a:t>
            </a:r>
            <a:r>
              <a:rPr lang="en-US" altLang="zh-CN" sz="1400" b="1" dirty="0"/>
              <a:t>​</a:t>
            </a:r>
            <a:r>
              <a:rPr lang="en-US" altLang="zh-CN" sz="1400" b="1" dirty="0">
                <a:effectLst/>
              </a:rPr>
              <a:t>S</a:t>
            </a:r>
            <a:r>
              <a:rPr lang="en-US" altLang="zh-CN" sz="1400" b="1" dirty="0"/>
              <a:t>):</a:t>
            </a:r>
            <a:r>
              <a:rPr lang="en-US" altLang="zh-CN" sz="1400" dirty="0"/>
              <a:t> </a:t>
            </a:r>
            <a:r>
              <a:rPr lang="en-US" altLang="zh-CN" sz="1400" dirty="0">
                <a:effectLst/>
              </a:rPr>
              <a:t>H</a:t>
            </a:r>
            <a:r>
              <a:rPr lang="en-US" altLang="zh-CN" sz="1400" dirty="0"/>
              <a:t>/</a:t>
            </a:r>
            <a:r>
              <a:rPr lang="en-US" altLang="zh-CN" sz="1400" dirty="0">
                <a:effectLst/>
              </a:rPr>
              <a:t>C</a:t>
            </a:r>
            <a:r>
              <a:rPr lang="en-US" altLang="zh-CN" sz="1400" dirty="0"/>
              <a:t>=4.0. </a:t>
            </a:r>
            <a:r>
              <a:rPr lang="en-US" altLang="zh-CN" sz="1400" b="1" dirty="0"/>
              <a:t>Flagged</a:t>
            </a:r>
            <a:r>
              <a:rPr lang="en-US" altLang="zh-CN" sz="1400" dirty="0"/>
              <a:t>. → </a:t>
            </a:r>
            <a:r>
              <a:rPr lang="en-US" altLang="zh-CN" sz="1400" i="1" dirty="0"/>
              <a:t>Must Load via </a:t>
            </a:r>
            <a:r>
              <a:rPr lang="en-US" altLang="zh-CN" sz="1400" i="1" dirty="0" err="1"/>
              <a:t>MassList</a:t>
            </a:r>
            <a:r>
              <a:rPr lang="en-US" altLang="zh-CN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400" b="1" dirty="0"/>
              <a:t>MSIA (</a:t>
            </a:r>
            <a:r>
              <a:rPr lang="en-US" altLang="zh-CN" sz="1400" b="1" dirty="0">
                <a:effectLst/>
              </a:rPr>
              <a:t>CH4</a:t>
            </a:r>
            <a:r>
              <a:rPr lang="en-US" altLang="zh-CN" sz="1400" b="1" dirty="0"/>
              <a:t>​</a:t>
            </a:r>
            <a:r>
              <a:rPr lang="en-US" altLang="zh-CN" sz="1400" b="1" dirty="0">
                <a:effectLst/>
              </a:rPr>
              <a:t>O2</a:t>
            </a:r>
            <a:r>
              <a:rPr lang="en-US" altLang="zh-CN" sz="1400" b="1" dirty="0"/>
              <a:t>​</a:t>
            </a:r>
            <a:r>
              <a:rPr lang="en-US" altLang="zh-CN" sz="1400" b="1" dirty="0">
                <a:effectLst/>
              </a:rPr>
              <a:t>S</a:t>
            </a:r>
            <a:r>
              <a:rPr lang="en-US" altLang="zh-CN" sz="1400" b="1" dirty="0"/>
              <a:t>):</a:t>
            </a:r>
            <a:r>
              <a:rPr lang="en-US" altLang="zh-CN" sz="1400" dirty="0"/>
              <a:t> </a:t>
            </a:r>
            <a:r>
              <a:rPr lang="en-US" altLang="zh-CN" sz="1400" dirty="0">
                <a:effectLst/>
              </a:rPr>
              <a:t>H</a:t>
            </a:r>
            <a:r>
              <a:rPr lang="en-US" altLang="zh-CN" sz="1400" dirty="0"/>
              <a:t>/</a:t>
            </a:r>
            <a:r>
              <a:rPr lang="en-US" altLang="zh-CN" sz="1400" dirty="0">
                <a:effectLst/>
              </a:rPr>
              <a:t>C</a:t>
            </a:r>
            <a:r>
              <a:rPr lang="en-US" altLang="zh-CN" sz="1400" dirty="0"/>
              <a:t>=4.0. </a:t>
            </a:r>
            <a:r>
              <a:rPr lang="en-US" altLang="zh-CN" sz="1400" b="1" dirty="0"/>
              <a:t>Flagged</a:t>
            </a:r>
            <a:r>
              <a:rPr lang="en-US" altLang="zh-CN" sz="1400" dirty="0"/>
              <a:t>. → </a:t>
            </a:r>
            <a:r>
              <a:rPr lang="en-US" altLang="zh-CN" sz="1400" i="1" dirty="0"/>
              <a:t>Must Load via </a:t>
            </a:r>
            <a:r>
              <a:rPr lang="en-US" altLang="zh-CN" sz="1400" i="1" dirty="0" err="1"/>
              <a:t>MassList</a:t>
            </a:r>
            <a:r>
              <a:rPr lang="en-US" altLang="zh-CN" sz="14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3852C7-3089-7C01-30D2-188DD7013453}"/>
              </a:ext>
            </a:extLst>
          </p:cNvPr>
          <p:cNvSpPr txBox="1"/>
          <p:nvPr/>
        </p:nvSpPr>
        <p:spPr>
          <a:xfrm>
            <a:off x="301922" y="44477"/>
            <a:ext cx="9169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Rule to generating formulas or from known dataset (e.g., MCM, NIST, …)</a:t>
            </a:r>
            <a:endParaRPr lang="zh-CN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EE6FC9-2692-E255-9344-11CBEAD7637E}"/>
              </a:ext>
            </a:extLst>
          </p:cNvPr>
          <p:cNvSpPr txBox="1"/>
          <p:nvPr/>
        </p:nvSpPr>
        <p:spPr>
          <a:xfrm>
            <a:off x="7677510" y="6291333"/>
            <a:ext cx="430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004279"/>
                </a:solidFill>
                <a:effectLst/>
                <a:latin typeface="Open Sans" panose="020B0606030504020204" pitchFamily="34" charset="0"/>
              </a:rPr>
              <a:t>Based </a:t>
            </a:r>
            <a:r>
              <a:rPr lang="en-US" altLang="zh-CN" b="0" i="0" dirty="0" err="1">
                <a:solidFill>
                  <a:srgbClr val="004279"/>
                </a:solidFill>
                <a:effectLst/>
                <a:latin typeface="Open Sans" panose="020B0606030504020204" pitchFamily="34" charset="0"/>
              </a:rPr>
              <a:t>onMickwitz</a:t>
            </a:r>
            <a:r>
              <a:rPr lang="en-US" altLang="zh-CN" b="0" i="0" dirty="0">
                <a:solidFill>
                  <a:srgbClr val="004279"/>
                </a:solidFill>
                <a:effectLst/>
                <a:latin typeface="Open Sans" panose="020B0606030504020204" pitchFamily="34" charset="0"/>
              </a:rPr>
              <a:t> et al., AMT, 2025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43E946-F11D-CF2F-1850-E9BDB64EEAE4}"/>
              </a:ext>
            </a:extLst>
          </p:cNvPr>
          <p:cNvSpPr txBox="1"/>
          <p:nvPr/>
        </p:nvSpPr>
        <p:spPr>
          <a:xfrm>
            <a:off x="2801426" y="475028"/>
            <a:ext cx="2085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Filter DBE &lt; 0 case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3111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9F76D-482C-AC59-8207-0FB2BD735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53D3FB-F2E2-C22B-84D0-006A9DCBC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3" y="728960"/>
            <a:ext cx="12122773" cy="58486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ED56E8-5FAC-960C-E4FA-9E3B338FD291}"/>
              </a:ext>
            </a:extLst>
          </p:cNvPr>
          <p:cNvSpPr txBox="1"/>
          <p:nvPr/>
        </p:nvSpPr>
        <p:spPr>
          <a:xfrm>
            <a:off x="301924" y="197335"/>
            <a:ext cx="9169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From known dataset (e.g., MCM, NIST, …)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21411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E335D-617B-77EC-EBE5-3F71E2098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4532DB-AC06-AF6B-E372-705FBA737CD9}"/>
              </a:ext>
            </a:extLst>
          </p:cNvPr>
          <p:cNvSpPr txBox="1"/>
          <p:nvPr/>
        </p:nvSpPr>
        <p:spPr>
          <a:xfrm>
            <a:off x="598100" y="387598"/>
            <a:ext cx="9169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Overview of the algorithm</a:t>
            </a:r>
            <a:endParaRPr lang="zh-CN" altLang="en-US" sz="20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1BE9E3-503A-C44A-3438-5F62B0909BA0}"/>
              </a:ext>
            </a:extLst>
          </p:cNvPr>
          <p:cNvSpPr/>
          <p:nvPr/>
        </p:nvSpPr>
        <p:spPr>
          <a:xfrm>
            <a:off x="879894" y="1826577"/>
            <a:ext cx="1794296" cy="11041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Loading data</a:t>
            </a:r>
            <a:endParaRPr lang="zh-CN" alt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223C54-F39B-9637-83F1-55EB685A30CE}"/>
              </a:ext>
            </a:extLst>
          </p:cNvPr>
          <p:cNvSpPr/>
          <p:nvPr/>
        </p:nvSpPr>
        <p:spPr>
          <a:xfrm>
            <a:off x="3835878" y="1852457"/>
            <a:ext cx="3073879" cy="11041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Peaking fitting based on known </a:t>
            </a:r>
            <a:r>
              <a:rPr lang="en-US" altLang="zh-CN" sz="2400" dirty="0" err="1"/>
              <a:t>masslist</a:t>
            </a:r>
            <a:endParaRPr lang="zh-CN" altLang="en-US" sz="2400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A338B20-0461-C4E8-8BF5-649909039A09}"/>
              </a:ext>
            </a:extLst>
          </p:cNvPr>
          <p:cNvSpPr/>
          <p:nvPr/>
        </p:nvSpPr>
        <p:spPr>
          <a:xfrm>
            <a:off x="2918604" y="2232019"/>
            <a:ext cx="672860" cy="4001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3667B5-F136-FC99-4A35-198CB87BBA51}"/>
              </a:ext>
            </a:extLst>
          </p:cNvPr>
          <p:cNvSpPr/>
          <p:nvPr/>
        </p:nvSpPr>
        <p:spPr>
          <a:xfrm>
            <a:off x="8238227" y="1852457"/>
            <a:ext cx="3073879" cy="11041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Peaking fitting based on unknown mass list</a:t>
            </a:r>
            <a:endParaRPr lang="zh-CN" altLang="en-US" sz="2400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2AE20BA-FA89-4C8F-1665-23692B0B1998}"/>
              </a:ext>
            </a:extLst>
          </p:cNvPr>
          <p:cNvSpPr/>
          <p:nvPr/>
        </p:nvSpPr>
        <p:spPr>
          <a:xfrm>
            <a:off x="7320953" y="2232019"/>
            <a:ext cx="672860" cy="4001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88CB63AB-11A4-748C-EEDA-75DB4B2FD878}"/>
              </a:ext>
            </a:extLst>
          </p:cNvPr>
          <p:cNvSpPr/>
          <p:nvPr/>
        </p:nvSpPr>
        <p:spPr>
          <a:xfrm rot="5400000">
            <a:off x="9438736" y="3364877"/>
            <a:ext cx="672860" cy="4001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C2A05B-5C8F-79AB-7759-B8F69F5319A6}"/>
              </a:ext>
            </a:extLst>
          </p:cNvPr>
          <p:cNvSpPr/>
          <p:nvPr/>
        </p:nvSpPr>
        <p:spPr>
          <a:xfrm>
            <a:off x="8238227" y="4282231"/>
            <a:ext cx="3073879" cy="11041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Cleaning overfitting peak</a:t>
            </a:r>
            <a:endParaRPr lang="zh-CN" altLang="en-US" sz="2400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3B18FFE-E78D-888D-8D50-80E9C6637E52}"/>
              </a:ext>
            </a:extLst>
          </p:cNvPr>
          <p:cNvSpPr/>
          <p:nvPr/>
        </p:nvSpPr>
        <p:spPr>
          <a:xfrm rot="10800000">
            <a:off x="7320953" y="4549649"/>
            <a:ext cx="672860" cy="4001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C31C85-A9C5-2541-9B5D-C1CE4B7DD132}"/>
              </a:ext>
            </a:extLst>
          </p:cNvPr>
          <p:cNvSpPr/>
          <p:nvPr/>
        </p:nvSpPr>
        <p:spPr>
          <a:xfrm>
            <a:off x="4433977" y="4282231"/>
            <a:ext cx="2475780" cy="11041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visualization</a:t>
            </a:r>
            <a:endParaRPr lang="zh-CN" altLang="en-US" sz="2400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8CEFA7A-EB18-7C01-D92E-74946EC5DB11}"/>
              </a:ext>
            </a:extLst>
          </p:cNvPr>
          <p:cNvSpPr/>
          <p:nvPr/>
        </p:nvSpPr>
        <p:spPr>
          <a:xfrm rot="10800000">
            <a:off x="3349922" y="4634267"/>
            <a:ext cx="672860" cy="4001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1FAA85-05DB-867E-2954-E3500868550D}"/>
              </a:ext>
            </a:extLst>
          </p:cNvPr>
          <p:cNvSpPr/>
          <p:nvPr/>
        </p:nvSpPr>
        <p:spPr>
          <a:xfrm>
            <a:off x="598100" y="4282231"/>
            <a:ext cx="2475780" cy="11041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Creating </a:t>
            </a:r>
            <a:r>
              <a:rPr lang="en-US" altLang="zh-CN" sz="2400" dirty="0" err="1"/>
              <a:t>Masslist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28907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A9BBE-2C02-1168-C4E0-E306C16E9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0D2285-9A98-585D-AE0A-7210D0090DDC}"/>
              </a:ext>
            </a:extLst>
          </p:cNvPr>
          <p:cNvSpPr txBox="1"/>
          <p:nvPr/>
        </p:nvSpPr>
        <p:spPr>
          <a:xfrm>
            <a:off x="2398142" y="2511305"/>
            <a:ext cx="93165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/>
              <a:t>How to do it in Julia?</a:t>
            </a:r>
            <a:endParaRPr lang="zh-CN" alt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641783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48CAA27-1668-F512-4840-70459D912327}"/>
              </a:ext>
            </a:extLst>
          </p:cNvPr>
          <p:cNvSpPr txBox="1"/>
          <p:nvPr/>
        </p:nvSpPr>
        <p:spPr>
          <a:xfrm>
            <a:off x="482469" y="1278328"/>
            <a:ext cx="10878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using PkgPkg.add(["GLMakie", "NativeFileDialog", "DataFrames", "CSV", "XLSX", "HDF5", "LsqFit", "Combinatorics", "Interpolations", "ProgressMeter"])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299E64-B10A-9CE7-B2F6-006A5FECF38F}"/>
              </a:ext>
            </a:extLst>
          </p:cNvPr>
          <p:cNvSpPr txBox="1"/>
          <p:nvPr/>
        </p:nvSpPr>
        <p:spPr>
          <a:xfrm>
            <a:off x="426565" y="923827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1. Package selection</a:t>
            </a:r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A7974C-73C0-56E4-094A-FDBA8DBC8E53}"/>
              </a:ext>
            </a:extLst>
          </p:cNvPr>
          <p:cNvSpPr txBox="1"/>
          <p:nvPr/>
        </p:nvSpPr>
        <p:spPr>
          <a:xfrm>
            <a:off x="426565" y="2241440"/>
            <a:ext cx="9571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2. Testing main function one by one, then merge and organize them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5B54D3-78BD-8D80-C376-6AF40142647D}"/>
              </a:ext>
            </a:extLst>
          </p:cNvPr>
          <p:cNvSpPr txBox="1"/>
          <p:nvPr/>
        </p:nvSpPr>
        <p:spPr>
          <a:xfrm>
            <a:off x="482469" y="3244334"/>
            <a:ext cx="95155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Details in the code script, will go to code tour!</a:t>
            </a:r>
          </a:p>
        </p:txBody>
      </p:sp>
    </p:spTree>
    <p:extLst>
      <p:ext uri="{BB962C8B-B14F-4D97-AF65-F5344CB8AC3E}">
        <p14:creationId xmlns:p14="http://schemas.microsoft.com/office/powerpoint/2010/main" val="3364242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DAB61-5E29-00A5-4B0C-BF86132B0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DFF40E-C438-6624-1B11-4C6FFD7A0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10" y="172319"/>
            <a:ext cx="11160779" cy="651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76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8C3A7-E3B1-BDB6-6D60-BAA548E01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DBE1A-6E77-9D5F-98BC-A8EF0155F531}"/>
              </a:ext>
            </a:extLst>
          </p:cNvPr>
          <p:cNvSpPr txBox="1">
            <a:spLocks/>
          </p:cNvSpPr>
          <p:nvPr/>
        </p:nvSpPr>
        <p:spPr>
          <a:xfrm>
            <a:off x="1524000" y="1691288"/>
            <a:ext cx="9144000" cy="312183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dirty="0"/>
              <a:t>Thanks for listening!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3517520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658</Words>
  <Application>Microsoft Office PowerPoint</Application>
  <PresentationFormat>Widescreen</PresentationFormat>
  <Paragraphs>64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等线</vt:lpstr>
      <vt:lpstr>Arial</vt:lpstr>
      <vt:lpstr>Calibri</vt:lpstr>
      <vt:lpstr>Open Sans</vt:lpstr>
      <vt:lpstr>WPS</vt:lpstr>
      <vt:lpstr>Masslist_Pro GUI  Readme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Zhensen zheng</dc:creator>
  <cp:lastModifiedBy>Zhensen zheng</cp:lastModifiedBy>
  <cp:revision>30</cp:revision>
  <dcterms:created xsi:type="dcterms:W3CDTF">2023-08-09T12:44:00Z</dcterms:created>
  <dcterms:modified xsi:type="dcterms:W3CDTF">2026-01-28T15:53:56Z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